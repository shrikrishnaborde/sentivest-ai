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5120640"/>
            <a:ext cx="2926080" cy="292608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546" y="802386"/>
            <a:ext cx="544068" cy="5440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· APPLIED AI · INVESTMENT RESEARCH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SentiVest AI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financial noise into investment insights.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Stock Sentiment Intelligence Platform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Solution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domain SentiVest AI operates 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371600" cy="1371600"/>
          </a:xfrm>
          <a:prstGeom prst="ellipse">
            <a:avLst/>
          </a:prstGeom>
          <a:solidFill>
            <a:srgbClr val="E9EF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51660"/>
            <a:ext cx="960120" cy="960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1600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FinTech — Investment Research &amp; Capital Markets Intelligence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377440" y="2148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broader Wealth-Tech and decision-support software category, serving retail investors, buy-side/sell-side analysts, brokerages, and asset managers who need to interpret market sentiment quickly.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37490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41056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4663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Always-On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60120" y="5029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and news never stop moving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251960" y="37490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41056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26280" y="4663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26280" y="5029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filings, calls, analyst notes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818120" y="37490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92440" y="4023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410565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92440" y="4663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Audiences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092440" y="50292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and professional analysts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Examples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facing similar challenges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379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90652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38658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Bloomberg Terminal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2734056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data access, but manual synthesis across sources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81144" y="18379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1906524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238658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Refinitiv / LSEG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81144" y="2734056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feeds, limited grounded Q&amp;A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01584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18379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190652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7616" y="238658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AlphaSense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57616" y="2734056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document search, less finance-tuned sentiment scoring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6576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4672" y="38953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3963924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" y="444398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Broking Apps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04672" y="4791456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prices, minimal narrative context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25112" y="36576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81144" y="38953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3963924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81144" y="444398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Robo-Advisors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81144" y="4791456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automation without evidence-backed insight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01584" y="36576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7616" y="38953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196" y="3963924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57616" y="4443984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In-House Research Desks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357616" y="4791456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cost, slow manual report turnaround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Background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sentiment analysis has become mission-critical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investing has surged over the past decade, and both retail and institutional investors now face an unprecedented volume of financial content — news wires, exchange filings, earnings calls, and analyst notes — published continuously across fragmented channels.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has become a leading input to investment decisions — but synthesizing it manually across sources is slow, inconsistent, and doesn't scale with how fast the market moves.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173736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NOISE COMES FROM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51460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6398" y="2590038"/>
            <a:ext cx="352044" cy="3520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66760" y="2587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&amp; Media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680960" y="3310128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398" y="3385566"/>
            <a:ext cx="352044" cy="3520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6676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Filings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680960" y="4105656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398" y="4181094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4178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Calls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7680960" y="4901184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398" y="4976622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49743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Reports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pain point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914400" cy="9144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64592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Investors cannot efficiently convert fragmented, high-volume financial information into a clear, trustworthy view of market sentiment for a given stock.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85800" y="3200400"/>
            <a:ext cx="10789920" cy="685800"/>
          </a:xfrm>
          <a:prstGeom prst="roundRect">
            <a:avLst>
              <a:gd name="adj" fmla="val 13333"/>
            </a:avLst>
          </a:prstGeom>
          <a:solidFill>
            <a:srgbClr val="163A5F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3192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38785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2004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 across disconnected, high-volume sources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4069080"/>
            <a:ext cx="10789920" cy="685800"/>
          </a:xfrm>
          <a:prstGeom prst="roundRect">
            <a:avLst>
              <a:gd name="adj" fmla="val 13333"/>
            </a:avLst>
          </a:prstGeom>
          <a:solidFill>
            <a:srgbClr val="163A5F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41879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5653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0690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grounded answer to 'why is sentiment shifting?'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85800" y="4937760"/>
            <a:ext cx="10789920" cy="685800"/>
          </a:xfrm>
          <a:prstGeom prst="roundRect">
            <a:avLst>
              <a:gd name="adj" fmla="val 13333"/>
            </a:avLst>
          </a:prstGeom>
          <a:solidFill>
            <a:srgbClr val="163A5F"/>
          </a:solidFill>
          <a:ln/>
        </p:spPr>
      </p:sp>
      <p:sp>
        <p:nvSpPr>
          <p:cNvPr id="18" name="Shape 13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5125212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937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synthesis doesn't scale with news velocity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Solutions Fail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approaches leave a gap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63624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2107692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8803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LLM Chatbots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49808" y="365760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pretrained knowledge — no live evidence, prone to hallucination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9856" y="169164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10769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28803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Sentiment Models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21024" y="365760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financial phrasing (e.g. 'guided down' read as neutral)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91072" y="169164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06056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068" y="210769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73952" y="28803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Single-Source Aggregators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492240" y="365760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at a time — no cross-source synthesis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162288" y="1691640"/>
            <a:ext cx="2670048" cy="3931920"/>
          </a:xfrm>
          <a:prstGeom prst="roundRect">
            <a:avLst>
              <a:gd name="adj" fmla="val 342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177272" y="2011680"/>
            <a:ext cx="640080" cy="64008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3284" y="2107692"/>
            <a:ext cx="448056" cy="4480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5168" y="288036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SentiVest AI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363456" y="365760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RAG + finance-tuned scoring, fully cited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customer, and financial consequences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14884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25171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0175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and investor hours lost to manual cross-source reading and reconciliation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07408" y="18288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214884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318" y="2251710"/>
            <a:ext cx="480060" cy="4800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7448" y="30175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27448" y="34290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erodes when AI-generated answers can't be traced back to real evidence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29016" y="18288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214884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926" y="2251710"/>
            <a:ext cx="480060" cy="4800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49056" y="30175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449056" y="342900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or misinformed decisions carry real downside and missed-opportunity risk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C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67528" y="1920240"/>
            <a:ext cx="1005840" cy="10058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404" y="2071116"/>
            <a:ext cx="704088" cy="704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200400"/>
            <a:ext cx="923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evidence-grounded, RAG-powered platform that synthesizes multi-source financial sentiment into transparent, source-cited insight — in seconds, not hours.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789920" cy="658368"/>
          </a:xfrm>
          <a:prstGeom prst="roundRect">
            <a:avLst>
              <a:gd name="adj" fmla="val 13889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83664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5224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783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research time per sentiment query from hours to seconds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85800" y="2624328"/>
            <a:ext cx="10789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724912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79349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62432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insight in retrievable, citable evidence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85800" y="3465576"/>
            <a:ext cx="10789920" cy="658368"/>
          </a:xfrm>
          <a:prstGeom prst="roundRect">
            <a:avLst>
              <a:gd name="adj" fmla="val 13889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6347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46557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finance-tuned sentiment scoring — not generic NLP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85800" y="4306824"/>
            <a:ext cx="10789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914400" y="4407408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47598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306824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self-serve dashboard and natural-language Q&amp;A for any tracked stock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685800" y="5148072"/>
            <a:ext cx="10789920" cy="658368"/>
          </a:xfrm>
          <a:prstGeom prst="roundRect">
            <a:avLst>
              <a:gd name="adj" fmla="val 13889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14400" y="5248656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5317236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514807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both retail-investor and professional-analyst research workflows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capabilities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23110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5603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Ingestion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29260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filings, earnings calls, analyst reports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81144" y="1947672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582" y="2023110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25603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Retrieval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81144" y="29260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over embedded document chunks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1947672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054" y="2023110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7616" y="25603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Scoring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57616" y="292608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Finance-tuned FinBERT classification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4263390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672" y="48006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Natural-Language Q&amp;A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04672" y="5166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any tracked stock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25112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81144" y="4187952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582" y="4263390"/>
            <a:ext cx="352044" cy="3520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81144" y="48006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Dashboard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81144" y="5166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sentiment visualization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01584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7616" y="4187952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054" y="4263390"/>
            <a:ext cx="352044" cy="3520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57616" y="48006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Citations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357616" y="5166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linked to its evidence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security, and scalability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05740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142439"/>
            <a:ext cx="396850" cy="3968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0756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60120" y="27432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Sub-few-second retrieval and report generation per query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9" y="2142439"/>
            <a:ext cx="396850" cy="3968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0756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83680" y="27432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gated ingestion; secrets never exposed to clients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580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" y="4382719"/>
            <a:ext cx="396850" cy="3968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315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96012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vector store and async task queue for growth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0936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42976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4382719"/>
            <a:ext cx="396850" cy="3968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315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Auditability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58368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traceable to a specific cited source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Required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APIs, and data 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37944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" y="1913382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8105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News APIs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18105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and historical company news coverage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2633472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2734056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38" y="2809494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7066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Filings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270662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full-text search / exchange announcements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5800" y="3529584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3630168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" y="3705606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6027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Call Transcripts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86400" y="360273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commentary and Q&amp;A tone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5800" y="4425696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914400" y="452628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38" y="460171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44988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Reports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86400" y="449884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research and rating commentary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85800" y="5321808"/>
            <a:ext cx="10789920" cy="713232"/>
          </a:xfrm>
          <a:prstGeom prst="roundRect">
            <a:avLst>
              <a:gd name="adj" fmla="val 12821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14400" y="5422392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38" y="5497830"/>
            <a:ext cx="352044" cy="3520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91640" y="53949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&amp; Ticker Metadata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486400" y="539496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Fundamentals, sector, exchange reference data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Tech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frameworks, databases, and tools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70048" cy="4114800"/>
          </a:xfrm>
          <a:prstGeom prst="roundRect">
            <a:avLst>
              <a:gd name="adj" fmla="val 3425"/>
            </a:avLst>
          </a:prstGeom>
          <a:solidFill>
            <a:srgbClr val="163A5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315468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19856" y="1737360"/>
            <a:ext cx="2670048" cy="4114800"/>
          </a:xfrm>
          <a:prstGeom prst="roundRect">
            <a:avLst>
              <a:gd name="adj" fmla="val 3425"/>
            </a:avLst>
          </a:prstGeom>
          <a:solidFill>
            <a:srgbClr val="163A5F"/>
          </a:solidFill>
          <a:ln/>
        </p:spPr>
      </p:sp>
      <p:sp>
        <p:nvSpPr>
          <p:cNvPr id="12" name="Shape 9"/>
          <p:cNvSpPr/>
          <p:nvPr/>
        </p:nvSpPr>
        <p:spPr>
          <a:xfrm>
            <a:off x="3648456" y="2011680"/>
            <a:ext cx="548640" cy="5486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9397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48456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48456" y="315468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(async Python)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91072" y="1737360"/>
            <a:ext cx="2670048" cy="4114800"/>
          </a:xfrm>
          <a:prstGeom prst="roundRect">
            <a:avLst>
              <a:gd name="adj" fmla="val 3425"/>
            </a:avLst>
          </a:prstGeom>
          <a:solidFill>
            <a:srgbClr val="163A5F"/>
          </a:solidFill>
          <a:ln/>
        </p:spPr>
      </p:sp>
      <p:sp>
        <p:nvSpPr>
          <p:cNvPr id="17" name="Shape 13"/>
          <p:cNvSpPr/>
          <p:nvPr/>
        </p:nvSpPr>
        <p:spPr>
          <a:xfrm>
            <a:off x="6519672" y="2011680"/>
            <a:ext cx="548640" cy="5486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0939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9672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RAG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519672" y="315468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LLM + Embeddings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sentiment model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/ Pinecone / Qdrant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62288" y="1737360"/>
            <a:ext cx="2670048" cy="4114800"/>
          </a:xfrm>
          <a:prstGeom prst="roundRect">
            <a:avLst>
              <a:gd name="adj" fmla="val 3425"/>
            </a:avLst>
          </a:prstGeom>
          <a:solidFill>
            <a:srgbClr val="163A5F"/>
          </a:solidFill>
          <a:ln/>
        </p:spPr>
      </p:sp>
      <p:sp>
        <p:nvSpPr>
          <p:cNvPr id="22" name="Shape 17"/>
          <p:cNvSpPr/>
          <p:nvPr/>
        </p:nvSpPr>
        <p:spPr>
          <a:xfrm>
            <a:off x="9390888" y="2011680"/>
            <a:ext cx="548640" cy="5486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09397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90888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390888" y="315468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scheduled ingestion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Concepts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techniques behind the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64792"/>
            <a:ext cx="566928" cy="566928"/>
          </a:xfrm>
          <a:prstGeom prst="ellipse">
            <a:avLst/>
          </a:prstGeom>
          <a:solidFill>
            <a:srgbClr val="E9EF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849831"/>
            <a:ext cx="396850" cy="396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373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Embeddings &amp; Vector Search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06440" y="173736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text as vectors; retrieve by similarity, not keywords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60904"/>
            <a:ext cx="566928" cy="566928"/>
          </a:xfrm>
          <a:prstGeom prst="ellipse">
            <a:avLst/>
          </a:prstGeom>
          <a:solidFill>
            <a:srgbClr val="E9EF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2745943"/>
            <a:ext cx="396850" cy="3968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63347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 (RAG)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06440" y="263347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LLM output in retrieved documents, not pretrained memory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3557016"/>
            <a:ext cx="566928" cy="566928"/>
          </a:xfrm>
          <a:prstGeom prst="ellipse">
            <a:avLst/>
          </a:prstGeom>
          <a:solidFill>
            <a:srgbClr val="E9EF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642055"/>
            <a:ext cx="396850" cy="3968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5295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Finance-Tuned Sentiment Classification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806440" y="352958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correctly reads financial phrasing general models miss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" y="4453128"/>
            <a:ext cx="566928" cy="566928"/>
          </a:xfrm>
          <a:prstGeom prst="ellipse">
            <a:avLst/>
          </a:prstGeom>
          <a:solidFill>
            <a:srgbClr val="E9EF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4538167"/>
            <a:ext cx="396850" cy="3968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42569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LLM-Based Grounded Summarization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806440" y="4425696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 narrative strictly from cited source excerpts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85800" y="5349240"/>
            <a:ext cx="566928" cy="566928"/>
          </a:xfrm>
          <a:prstGeom prst="ellipse">
            <a:avLst/>
          </a:prstGeom>
          <a:solidFill>
            <a:srgbClr val="E9EFF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5434279"/>
            <a:ext cx="396850" cy="3968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532180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Aggregation &amp; Confidence Scoring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806440" y="532180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per-document scores into an auditable overall signal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success metrics for the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77440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sec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084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report generation latency per query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9312" y="2377440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30752" y="3520440"/>
            <a:ext cx="2084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backed by a cited, retrievable source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18504" y="192024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2377440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47104" y="3520440"/>
            <a:ext cx="2084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refresh cadence per tracked stock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34856" y="1920240"/>
            <a:ext cx="2542032" cy="2926080"/>
          </a:xfrm>
          <a:prstGeom prst="roundRect">
            <a:avLst>
              <a:gd name="adj" fmla="val 359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72016" y="2377440"/>
            <a:ext cx="2267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363456" y="3520440"/>
            <a:ext cx="2084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+ filings + earnings + analyst coverage per report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5074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guiding design and evaluation — to be measured against production usage.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evidence-backed research turns raw financial noise into decision-ready insight — reducing manual synthesis time, increasing trust through full source traceability, and giving investors a defensible, auditable view of market sentiment.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3538728"/>
            <a:ext cx="594360" cy="59436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562" y="3627882"/>
            <a:ext cx="416052" cy="4160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429768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Research Cycles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78408" y="475488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AI-assisted synthesis instead of hours of manual reading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07408" y="32461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0016" y="3538728"/>
            <a:ext cx="594360" cy="59436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3627882"/>
            <a:ext cx="416052" cy="4160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0016" y="429768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Explainable, Auditable Output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700016" y="475488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traces back to a real, citable source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29016" y="324612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E9EFF6"/>
          </a:solidFill>
          <a:ln/>
          <a:effectLst>
            <a:outerShdw sx="100000" sy="100000" kx="0" ky="0" algn="bl" rotWithShape="0" blurRad="76200" dist="25400" dir="5400000">
              <a:srgbClr val="1A2E4A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21624" y="3538728"/>
            <a:ext cx="594360" cy="59436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8" y="3627882"/>
            <a:ext cx="416052" cy="4160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21624" y="429768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Differentiated Research Product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421624" y="4754880"/>
            <a:ext cx="2843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foundation for a premium investor-research offering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75488" cy="47548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Deliverables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artifacts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516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7592" y="1728216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with a full RAG sentiment-analysis pipeline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2679192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74777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07592" y="2624328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investor dashboard, stock detail view, and chat Q&amp;A interface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5800" y="3575304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64388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7592" y="3520440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FinBERT-based finance-tuned sentiment scoring service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85800" y="4471416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4539996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07592" y="4416552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ingestion pipeline — news, filings, earnings, analyst reports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17920" y="178308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85166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39712" y="1728216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pluggable vector-store data layer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17920" y="2679192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747772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39712" y="2624328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 for backend, frontend, and workers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17920" y="3575304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3643884"/>
            <a:ext cx="320040" cy="3200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39712" y="3520440"/>
            <a:ext cx="4636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and architecture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16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1737360"/>
            <a:ext cx="914400" cy="9144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874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financial noise into investment insights.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SentiVest AI — RAG-Powered Stock Sentiment Intelligence Platform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SentiVest AI — Business Case</dc:title>
  <dc:subject>PptxGenJS Presentation</dc:subject>
  <dc:creator>SentiVest AI</dc:creator>
  <cp:lastModifiedBy>SentiVest AI</cp:lastModifiedBy>
  <cp:revision>1</cp:revision>
  <dcterms:created xsi:type="dcterms:W3CDTF">2026-08-14T02:22:46Z</dcterms:created>
  <dcterms:modified xsi:type="dcterms:W3CDTF">2026-08-14T02:22:46Z</dcterms:modified>
</cp:coreProperties>
</file>